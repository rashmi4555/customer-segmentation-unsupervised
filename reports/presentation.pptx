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4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07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76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1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8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60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8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3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98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429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733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95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9867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29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73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79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10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8069"/>
            <a:ext cx="6347713" cy="69368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dirty="0"/>
              <a:t>AI-Driven Customer Intelligence System for Strategic Business Decision Making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34815"/>
            <a:ext cx="6347714" cy="47380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Advanced Customer Segmentation</a:t>
            </a:r>
          </a:p>
          <a:p>
            <a:r>
              <a:rPr dirty="0"/>
              <a:t>Using Unsupervised Learning</a:t>
            </a:r>
          </a:p>
          <a:p>
            <a:endParaRPr dirty="0"/>
          </a:p>
          <a:p>
            <a:r>
              <a:rPr dirty="0"/>
              <a:t>Presented to: AENEXZ TECH PVT LTD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Bangalore, India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Presented by: Rashmi </a:t>
            </a:r>
            <a:r>
              <a:rPr lang="en-US" dirty="0"/>
              <a:t>B </a:t>
            </a:r>
            <a:r>
              <a:rPr dirty="0"/>
              <a:t>Mariyannanavar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Date: </a:t>
            </a:r>
            <a:r>
              <a:rPr lang="en-US" dirty="0"/>
              <a:t>19 </a:t>
            </a:r>
            <a:r>
              <a:rPr dirty="0"/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515007"/>
            <a:ext cx="6884277" cy="6032937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b="1" dirty="0"/>
              <a:t> </a:t>
            </a:r>
            <a:r>
              <a:rPr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1️⃣ PROBLEM STATEMENT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   - Business Challenge</a:t>
            </a:r>
          </a:p>
          <a:p>
            <a:pPr marL="0" indent="0">
              <a:buNone/>
            </a:pPr>
            <a:r>
              <a:rPr dirty="0"/>
              <a:t>2️⃣ DATASET OVERVIEW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dirty="0"/>
              <a:t>- Online Retail II Dataset</a:t>
            </a:r>
          </a:p>
          <a:p>
            <a:pPr marL="0" indent="0">
              <a:buNone/>
            </a:pPr>
            <a:r>
              <a:rPr dirty="0"/>
              <a:t>3️⃣ METHODOLOGY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dirty="0"/>
              <a:t>- Data Preprocessing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dirty="0"/>
              <a:t> - RFM Feature Engineering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dirty="0"/>
              <a:t> - 4 Clustering Algorithms</a:t>
            </a:r>
          </a:p>
          <a:p>
            <a:pPr marL="0" indent="0">
              <a:buNone/>
            </a:pPr>
            <a:r>
              <a:rPr dirty="0"/>
              <a:t>4️⃣ RESULTS &amp; ANALYSIS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  - Algorithm Comparison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  - Best Model Selection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dirty="0"/>
              <a:t> - Customer Segments</a:t>
            </a:r>
          </a:p>
          <a:p>
            <a:pPr marL="0" indent="0">
              <a:buNone/>
            </a:pPr>
            <a:r>
              <a:rPr dirty="0"/>
              <a:t>5️⃣ BUSINESS INSIGHTS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  - Marketing Strategies</a:t>
            </a:r>
          </a:p>
          <a:p>
            <a:pPr marL="0" indent="0">
              <a:buNone/>
            </a:pPr>
            <a:r>
              <a:rPr dirty="0"/>
              <a:t>6️⃣ CONCLUSION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  - Project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567560"/>
            <a:ext cx="6347714" cy="54738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 STATEMENT</a:t>
            </a:r>
          </a:p>
          <a:p>
            <a:pPr marL="0" indent="0">
              <a:buNone/>
            </a:pPr>
            <a:r>
              <a:rPr dirty="0"/>
              <a:t>The company has customer transaction data but does NOT know:</a:t>
            </a:r>
            <a:endParaRPr lang="en-US" dirty="0"/>
          </a:p>
          <a:p>
            <a:r>
              <a:rPr dirty="0"/>
              <a:t> Who are their most valuable customers?</a:t>
            </a:r>
          </a:p>
          <a:p>
            <a:r>
              <a:rPr dirty="0"/>
              <a:t> Which customers are likely to churn?</a:t>
            </a:r>
          </a:p>
          <a:p>
            <a:r>
              <a:rPr dirty="0"/>
              <a:t> Which segment spends the most?</a:t>
            </a:r>
          </a:p>
          <a:p>
            <a:r>
              <a:rPr dirty="0"/>
              <a:t> Which group responds best to offers?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 </a:t>
            </a:r>
            <a:r>
              <a:rPr sz="2000" b="1" dirty="0"/>
              <a:t>GOAL:</a:t>
            </a:r>
          </a:p>
          <a:p>
            <a:r>
              <a:rPr dirty="0"/>
              <a:t>Identify customer segments</a:t>
            </a:r>
          </a:p>
          <a:p>
            <a:r>
              <a:rPr dirty="0"/>
              <a:t>Provide business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525517"/>
            <a:ext cx="6347714" cy="57912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sz="2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DATASET OVERVIEW</a:t>
            </a:r>
          </a:p>
          <a:p>
            <a:endParaRPr dirty="0"/>
          </a:p>
          <a:p>
            <a:r>
              <a:rPr b="1" dirty="0"/>
              <a:t>ONLINE RETAIL II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Source: UCI Machine Learning Repository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Period: Dec 2009 - Dec 2011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Type: E-commerce Transactions</a:t>
            </a:r>
          </a:p>
          <a:p>
            <a:endParaRPr dirty="0"/>
          </a:p>
          <a:p>
            <a:r>
              <a:rPr dirty="0"/>
              <a:t>Total Records: 1,067,371</a:t>
            </a:r>
          </a:p>
          <a:p>
            <a:r>
              <a:rPr dirty="0"/>
              <a:t>After Cleaning: 805,549</a:t>
            </a:r>
          </a:p>
          <a:p>
            <a:r>
              <a:rPr dirty="0"/>
              <a:t>Unique Customers: 5,878</a:t>
            </a:r>
          </a:p>
          <a:p>
            <a:r>
              <a:rPr dirty="0"/>
              <a:t>Unique Products: 3,684</a:t>
            </a:r>
          </a:p>
          <a:p>
            <a:r>
              <a:rPr dirty="0"/>
              <a:t>Countries: 38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RAW FEATURES:</a:t>
            </a:r>
          </a:p>
          <a:p>
            <a:r>
              <a:rPr dirty="0" err="1"/>
              <a:t>InvoiceNo</a:t>
            </a:r>
            <a:r>
              <a:rPr dirty="0"/>
              <a:t>, </a:t>
            </a:r>
            <a:r>
              <a:rPr dirty="0" err="1"/>
              <a:t>StockCode</a:t>
            </a:r>
            <a:r>
              <a:rPr dirty="0"/>
              <a:t>, Description,</a:t>
            </a:r>
          </a:p>
          <a:p>
            <a:r>
              <a:rPr dirty="0"/>
              <a:t>Quantity, </a:t>
            </a:r>
            <a:r>
              <a:rPr dirty="0" err="1"/>
              <a:t>InvoiceDate</a:t>
            </a:r>
            <a:r>
              <a:rPr dirty="0"/>
              <a:t>, </a:t>
            </a:r>
            <a:r>
              <a:rPr dirty="0" err="1"/>
              <a:t>UnitPrice</a:t>
            </a:r>
            <a:r>
              <a:rPr dirty="0"/>
              <a:t>,</a:t>
            </a:r>
          </a:p>
          <a:p>
            <a:r>
              <a:rPr dirty="0" err="1"/>
              <a:t>CustomerID</a:t>
            </a:r>
            <a:r>
              <a:rPr dirty="0"/>
              <a:t>, Country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515008"/>
            <a:ext cx="6347714" cy="59383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 PREPROCESSING RESULTS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dirty="0"/>
          </a:p>
          <a:p>
            <a:r>
              <a:rPr dirty="0"/>
              <a:t>Original Records: 1,067,371</a:t>
            </a:r>
          </a:p>
          <a:p>
            <a:r>
              <a:rPr dirty="0"/>
              <a:t>Removed Missing </a:t>
            </a:r>
            <a:r>
              <a:rPr dirty="0" err="1"/>
              <a:t>CustomerID</a:t>
            </a:r>
            <a:r>
              <a:rPr dirty="0"/>
              <a:t>: 243,007</a:t>
            </a:r>
          </a:p>
          <a:p>
            <a:r>
              <a:rPr dirty="0"/>
              <a:t>Removed Cancelled Orders: 18,744</a:t>
            </a:r>
          </a:p>
          <a:p>
            <a:r>
              <a:rPr dirty="0"/>
              <a:t>Removed Invalid Prices: 71</a:t>
            </a:r>
          </a:p>
          <a:p>
            <a:r>
              <a:rPr dirty="0"/>
              <a:t>Final Clean Records: 805,549</a:t>
            </a:r>
            <a:endParaRPr lang="en-US" dirty="0"/>
          </a:p>
          <a:p>
            <a:r>
              <a:rPr dirty="0"/>
              <a:t>24.5% data removed for quality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Created RFM metrics:</a:t>
            </a:r>
          </a:p>
          <a:p>
            <a:r>
              <a:rPr dirty="0"/>
              <a:t>- Recency</a:t>
            </a:r>
          </a:p>
          <a:p>
            <a:r>
              <a:rPr dirty="0"/>
              <a:t>- Frequency</a:t>
            </a:r>
          </a:p>
          <a:p>
            <a:r>
              <a:rPr dirty="0"/>
              <a:t>- Monetary</a:t>
            </a:r>
          </a:p>
          <a:p>
            <a:pPr marL="0" indent="0">
              <a:buNone/>
            </a:pPr>
            <a:r>
              <a:rPr b="1" dirty="0"/>
              <a:t>15 features created for 5,878 customers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409903"/>
            <a:ext cx="6347714" cy="60329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CLUSTERING ALGORITHMS COMPARISON</a:t>
            </a:r>
          </a:p>
          <a:p>
            <a:endParaRPr dirty="0"/>
          </a:p>
          <a:p>
            <a:r>
              <a:rPr dirty="0"/>
              <a:t>K-Means: 3 Clusters | Silhouette: 0.6420</a:t>
            </a:r>
          </a:p>
          <a:p>
            <a:r>
              <a:rPr dirty="0"/>
              <a:t>Hierarchical: 2 Clusters | Silhouette: 0.6550</a:t>
            </a:r>
          </a:p>
          <a:p>
            <a:r>
              <a:rPr dirty="0"/>
              <a:t>DBSCAN: 0 Clusters | Silhouette: -1.000</a:t>
            </a:r>
          </a:p>
          <a:p>
            <a:r>
              <a:rPr dirty="0"/>
              <a:t>GMM: 2 Clusters | Silhouette: 0.2365</a:t>
            </a:r>
          </a:p>
          <a:p>
            <a:endParaRPr dirty="0"/>
          </a:p>
          <a:p>
            <a:r>
              <a:rPr dirty="0"/>
              <a:t>BEST: Hierarchical</a:t>
            </a:r>
          </a:p>
          <a:p>
            <a:r>
              <a:rPr dirty="0"/>
              <a:t>Silhouette: 0.6550</a:t>
            </a:r>
          </a:p>
          <a:p>
            <a:r>
              <a:rPr dirty="0"/>
              <a:t>Davies-Bouldin: 0.4467</a:t>
            </a:r>
          </a:p>
          <a:p>
            <a:r>
              <a:rPr dirty="0"/>
              <a:t>Quality Grade: A</a:t>
            </a:r>
          </a:p>
          <a:p>
            <a:endParaRPr dirty="0"/>
          </a:p>
          <a:p>
            <a:r>
              <a:rPr dirty="0"/>
              <a:t>Cluster 0: 3,245 customers (55.2%)</a:t>
            </a:r>
          </a:p>
          <a:p>
            <a:r>
              <a:rPr dirty="0"/>
              <a:t>Cluster 1: 2,633 customers (44.8%)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496" y="252248"/>
            <a:ext cx="6347714" cy="62116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CUSTOMER SEGMENT PROFILES</a:t>
            </a:r>
          </a:p>
          <a:p>
            <a:endParaRPr dirty="0"/>
          </a:p>
          <a:p>
            <a:r>
              <a:rPr dirty="0"/>
              <a:t>SEGMENT 0: HIGH-VALUE LOYALISTS</a:t>
            </a:r>
          </a:p>
          <a:p>
            <a:r>
              <a:rPr dirty="0"/>
              <a:t>Size: 3,245 (55.2%)</a:t>
            </a:r>
          </a:p>
          <a:p>
            <a:r>
              <a:rPr dirty="0"/>
              <a:t>Avg Recency: 32 days</a:t>
            </a:r>
          </a:p>
          <a:p>
            <a:r>
              <a:rPr dirty="0"/>
              <a:t>Avg Frequency: 8.4 purchases</a:t>
            </a:r>
          </a:p>
          <a:p>
            <a:r>
              <a:rPr dirty="0"/>
              <a:t>Avg Monetary: £1,245.80</a:t>
            </a:r>
          </a:p>
          <a:p>
            <a:r>
              <a:rPr dirty="0"/>
              <a:t>RFM Score: 12.5</a:t>
            </a:r>
          </a:p>
          <a:p>
            <a:endParaRPr dirty="0"/>
          </a:p>
          <a:p>
            <a:r>
              <a:rPr dirty="0"/>
              <a:t>SEGMENT 1: OCCASIONAL SHOPPERS</a:t>
            </a:r>
          </a:p>
          <a:p>
            <a:r>
              <a:rPr dirty="0"/>
              <a:t>Size: 2,633 (44.8%)</a:t>
            </a:r>
          </a:p>
          <a:p>
            <a:r>
              <a:rPr dirty="0"/>
              <a:t>Avg Recency: 89 days</a:t>
            </a:r>
          </a:p>
          <a:p>
            <a:r>
              <a:rPr dirty="0"/>
              <a:t>Avg Frequency: 2.1 purchases</a:t>
            </a:r>
          </a:p>
          <a:p>
            <a:r>
              <a:rPr dirty="0"/>
              <a:t>Avg Monetary: £342.50</a:t>
            </a:r>
          </a:p>
          <a:p>
            <a:r>
              <a:rPr dirty="0"/>
              <a:t>RFM Score: 6.8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451945"/>
            <a:ext cx="6347714" cy="60014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000" b="1" dirty="0"/>
              <a:t> 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REVENUE ANALYSIS</a:t>
            </a:r>
          </a:p>
          <a:p>
            <a:endParaRPr dirty="0"/>
          </a:p>
          <a:p>
            <a:r>
              <a:rPr dirty="0"/>
              <a:t>Segment 0 (55.2%) → 78.3% Revenue</a:t>
            </a:r>
          </a:p>
          <a:p>
            <a:r>
              <a:rPr dirty="0"/>
              <a:t>Segment 1 (44.8%) → 21.7% Revenue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KEY INSIGHTS: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Top 55% customers generate 78% revenue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Loyalists spend 3.6x more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• Focus </a:t>
            </a:r>
            <a:r>
              <a:rPr lang="fr-FR" dirty="0" err="1"/>
              <a:t>retention</a:t>
            </a:r>
            <a:r>
              <a:rPr lang="fr-FR" dirty="0"/>
              <a:t> on Segment 0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Growth opportunity in Segment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346842"/>
            <a:ext cx="6347714" cy="569452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dirty="0"/>
              <a:t> </a:t>
            </a:r>
            <a:r>
              <a:rPr sz="2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MARKETING RECOMMENDATIONS</a:t>
            </a:r>
          </a:p>
          <a:p>
            <a:endParaRPr dirty="0"/>
          </a:p>
          <a:p>
            <a:r>
              <a:rPr dirty="0"/>
              <a:t>SEGMENT 0: HIGH-VALUE LOYALISTS</a:t>
            </a:r>
          </a:p>
          <a:p>
            <a:r>
              <a:rPr dirty="0"/>
              <a:t>Strategy: Premium Retention</a:t>
            </a:r>
          </a:p>
          <a:p>
            <a:r>
              <a:rPr dirty="0"/>
              <a:t>Offers: Exclusive discounts, Early access</a:t>
            </a:r>
          </a:p>
          <a:p>
            <a:r>
              <a:rPr dirty="0"/>
              <a:t>Channel: Email, SMS</a:t>
            </a:r>
          </a:p>
          <a:p>
            <a:r>
              <a:rPr dirty="0"/>
              <a:t>Frequency: Weekly</a:t>
            </a:r>
          </a:p>
          <a:p>
            <a:endParaRPr dirty="0"/>
          </a:p>
          <a:p>
            <a:r>
              <a:rPr dirty="0"/>
              <a:t>SEGMENT 1: OCCASIONAL SHOPPERS</a:t>
            </a:r>
          </a:p>
          <a:p>
            <a:r>
              <a:rPr dirty="0"/>
              <a:t>Strategy: Reactivation &amp; Growth</a:t>
            </a:r>
          </a:p>
          <a:p>
            <a:r>
              <a:rPr dirty="0"/>
              <a:t>Offers: Welcome back discounts, Bundles</a:t>
            </a:r>
          </a:p>
          <a:p>
            <a:r>
              <a:rPr dirty="0"/>
              <a:t>Channel: Email, Social Media</a:t>
            </a:r>
          </a:p>
          <a:p>
            <a:r>
              <a:rPr dirty="0"/>
              <a:t>Frequency: Monthly</a:t>
            </a:r>
          </a:p>
          <a:p>
            <a:endParaRPr dirty="0"/>
          </a:p>
          <a:p>
            <a:r>
              <a:rPr dirty="0"/>
              <a:t>Potential 35% revenue increase</a:t>
            </a:r>
          </a:p>
          <a:p>
            <a:r>
              <a:rPr dirty="0"/>
              <a:t>25% churn reduction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525518"/>
            <a:ext cx="6347714" cy="551584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sz="2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✓ Processed 1M+ transactions</a:t>
            </a:r>
          </a:p>
          <a:p>
            <a:pPr marL="0" indent="0">
              <a:buNone/>
            </a:pPr>
            <a:r>
              <a:rPr dirty="0"/>
              <a:t>✓ Engineered RFM features</a:t>
            </a:r>
          </a:p>
          <a:p>
            <a:pPr marL="0" indent="0">
              <a:buNone/>
            </a:pPr>
            <a:r>
              <a:rPr dirty="0"/>
              <a:t>✓ Implemented 4 clustering algorithms</a:t>
            </a:r>
          </a:p>
          <a:p>
            <a:pPr marL="0" indent="0">
              <a:buNone/>
            </a:pPr>
            <a:r>
              <a:rPr dirty="0"/>
              <a:t>✓ Identified 2 customer segments</a:t>
            </a:r>
          </a:p>
          <a:p>
            <a:pPr marL="0" indent="0">
              <a:buNone/>
            </a:pPr>
            <a:r>
              <a:rPr dirty="0"/>
              <a:t>✓ Generated business insights</a:t>
            </a:r>
          </a:p>
          <a:p>
            <a:endParaRPr dirty="0"/>
          </a:p>
          <a:p>
            <a:r>
              <a:rPr dirty="0"/>
              <a:t>BEST MODEL: Hierarchical Clustering</a:t>
            </a:r>
          </a:p>
          <a:p>
            <a:r>
              <a:rPr dirty="0"/>
              <a:t>Silhouette: 0.6550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NEXT STEPS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Deploy in CRM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A/B test campaigns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Monitor evolution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</TotalTime>
  <Words>567</Words>
  <Application>Microsoft Office PowerPoint</Application>
  <PresentationFormat>On-screen Show (4:3)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AI-Driven Customer Intelligence System for Strategic Business Decision Making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Customer Intelligence System for Strategic Business Decision Making </dc:title>
  <dc:subject/>
  <dc:creator>DELL i5</dc:creator>
  <cp:keywords/>
  <dc:description>generated using python-pptx</dc:description>
  <cp:lastModifiedBy>Rashmi Mariyannanavar</cp:lastModifiedBy>
  <cp:revision>2</cp:revision>
  <dcterms:created xsi:type="dcterms:W3CDTF">2013-01-27T09:14:16Z</dcterms:created>
  <dcterms:modified xsi:type="dcterms:W3CDTF">2026-02-19T07:09:34Z</dcterms:modified>
  <cp:category/>
</cp:coreProperties>
</file>